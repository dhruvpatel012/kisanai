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KisanAI</a:t>
            </a:r>
          </a:p>
          <a:p>
            <a:pPr>
              <a:spcBef>
                <a:spcPts val="1000"/>
              </a:spcBef>
              <a:defRPr sz="2200">
                <a:solidFill>
                  <a:srgbClr val="BBF7D0"/>
                </a:solidFill>
                <a:latin typeface="Arial"/>
              </a:defRPr>
            </a:pPr>
            <a:r>
              <a:t>Empowering Farmers with AI-Driven Crop Diagnosis</a:t>
            </a:r>
          </a:p>
          <a:p>
            <a:pPr>
              <a:spcBef>
                <a:spcPts val="3000"/>
              </a:spcBef>
              <a:defRPr sz="1400" i="1">
                <a:solidFill>
                  <a:srgbClr val="86EFAC"/>
                </a:solidFill>
                <a:latin typeface="Arial"/>
              </a:defRPr>
            </a:pPr>
            <a:r>
              <a:t>Bilingual Mobile agritech Platform • Development &amp; Architecture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The Problem &amp;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B91C1C"/>
                </a:solidFill>
              </a:defRPr>
            </a:pPr>
            <a:r>
              <a:t>THE CHALLENGES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No instant access to expert crop diagnostics.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Delayed disease identification leading to crop loss.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Bilingual support is missing in current tools.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Slow cellular internet halts large image uploads.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5132"/>
                </a:solidFill>
              </a:defRPr>
            </a:pPr>
            <a:r>
              <a:t>THE KISANAI SOLUTION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Instant leaf scan diagnostics directly on mobile.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Bilingual support (seamless English / Hindi toggle).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Client-side image compression to bypass size limits.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Comprehensive guides for organic and chemical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</a:defRPr>
            </a:pPr>
            <a:r>
              <a:t>FRONTEND (React + Vite)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React Single Page App: </a:t>
            </a:r>
            <a:r>
              <a:rPr b="0" sz="1300"/>
              <a:t>Instant, responsive routing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Tailwind CSS: </a:t>
            </a:r>
            <a:r>
              <a:rPr b="0" sz="1300"/>
              <a:t>Utility-first mobile layouts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Framer Motion: </a:t>
            </a:r>
            <a:r>
              <a:rPr b="0" sz="1300"/>
              <a:t>Premium page transition animations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Lucide React Icons: </a:t>
            </a:r>
            <a:r>
              <a:rPr b="0" sz="1300"/>
              <a:t>Clean and lightweight SVG icons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Canvas-Confetti: </a:t>
            </a:r>
            <a:r>
              <a:rPr b="0" sz="1300"/>
              <a:t>Gamified healthy diagnosis celebrations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5132"/>
                </a:solidFill>
              </a:defRPr>
            </a:pPr>
            <a:r>
              <a:t>BACKEND (FastAPI + MongoDB)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FastAPI Python: </a:t>
            </a:r>
            <a:r>
              <a:rPr b="0" sz="1300"/>
              <a:t>High-performance async REST API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Motor Driver: </a:t>
            </a:r>
            <a:r>
              <a:rPr b="0" sz="1300"/>
              <a:t>Async database queries for high concurrency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MongoDB NoSQL: </a:t>
            </a:r>
            <a:r>
              <a:rPr b="0" sz="1300"/>
              <a:t>Flexible schemas for user profile &amp; scans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JWT &amp; Bcrypt: </a:t>
            </a:r>
            <a:r>
              <a:rPr b="0" sz="1300"/>
              <a:t>Secure authentication &amp; password hashing</a:t>
            </a:r>
          </a:p>
          <a:p>
            <a:pPr>
              <a:spcBef>
                <a:spcPts val="600"/>
              </a:spcBef>
              <a:defRPr b="1" sz="1300">
                <a:solidFill>
                  <a:srgbClr val="212529"/>
                </a:solidFill>
              </a:defRPr>
            </a:pPr>
            <a:r>
              <a:t>•  Open-Meteo API: </a:t>
            </a:r>
            <a:r>
              <a:rPr b="0" sz="1300"/>
              <a:t>Geolocation-based forecast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AI Scan &amp; Diagnosis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F5132"/>
                </a:solidFill>
              </a:defRPr>
            </a:pPr>
            <a:r>
              <a:t>1. Select &amp; Picker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Farmer selects a leaf photo via device camera or gallery storage.</a:t>
            </a:r>
          </a:p>
          <a:p>
            <a:br/>
            <a:pPr>
              <a:spcBef>
                <a:spcPts val="1400"/>
              </a:spcBef>
              <a:defRPr sz="1000" i="1">
                <a:solidFill>
                  <a:srgbClr val="16A34A"/>
                </a:solidFill>
              </a:defRPr>
            </a:pPr>
            <a:r>
              <a:t>File: ScanPage.jsx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F5132"/>
                </a:solidFill>
              </a:defRPr>
            </a:pPr>
            <a:r>
              <a:t>2. Upload REST API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Multipart file upload /upload creates a new database scan record.</a:t>
            </a:r>
          </a:p>
          <a:p>
            <a:br/>
            <a:pPr>
              <a:spcBef>
                <a:spcPts val="1400"/>
              </a:spcBef>
              <a:defRPr sz="1000" i="1">
                <a:solidFill>
                  <a:srgbClr val="16A34A"/>
                </a:solidFill>
              </a:defRPr>
            </a:pPr>
            <a:r>
              <a:t>File: upload.py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288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F5132"/>
                </a:solidFill>
              </a:defRPr>
            </a:pPr>
            <a:r>
              <a:t>3. AI classification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Backend runs prediction, mapping severity levels &amp; treatment steps.</a:t>
            </a:r>
          </a:p>
          <a:p>
            <a:br/>
            <a:pPr>
              <a:spcBef>
                <a:spcPts val="1400"/>
              </a:spcBef>
              <a:defRPr sz="1000" i="1">
                <a:solidFill>
                  <a:srgbClr val="16A34A"/>
                </a:solidFill>
              </a:defRPr>
            </a:pPr>
            <a:r>
              <a:t>File: ml_service.py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2468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F5132"/>
                </a:solidFill>
              </a:defRPr>
            </a:pPr>
            <a:r>
              <a:t>4. Diagnostics View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Results render organic/chemical tabs, severity badges &amp; accuracy gauges.</a:t>
            </a:r>
          </a:p>
          <a:p>
            <a:br/>
            <a:pPr>
              <a:spcBef>
                <a:spcPts val="1400"/>
              </a:spcBef>
              <a:defRPr sz="1000" i="1">
                <a:solidFill>
                  <a:srgbClr val="16A34A"/>
                </a:solidFill>
              </a:defRPr>
            </a:pPr>
            <a:r>
              <a:t>File: ResultPage.jsx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Profile Uploads &amp; Canvas Auto-Compression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B91C1C"/>
                </a:solidFill>
              </a:defRPr>
            </a:pPr>
            <a:r>
              <a:t>THE PROBLEM: DOCUMENT BLOAT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Uploading large gallery images (5MB+) triggers errors.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Excessive Base64 string lengths slow down MongoDB.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High cellular bandwidth consumption for rural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5132"/>
                </a:solidFill>
              </a:defRPr>
            </a:pPr>
            <a:r>
              <a:t>THE SOLUTION: CLIENT-SIDE COMPRESSION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Selected photo is loaded into a hidden canvas.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Cropped to a center-aligned square.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Downscaled to 200x200 pixels.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Exported as low-weight Base64 JPEG (~20KB).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Results in zero upload wait times and optimal DB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Bilingual Support: Static &amp; Dynamic Translation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</a:defRPr>
            </a:pPr>
            <a:r>
              <a:t>1. STATIC UI TRANSLATION (t)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Translates static headers, buttons, navigation items.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Managed via central LanguageContext.jsx.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Example: t('Scan History', 'स्कैन इतिहास')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5132"/>
                </a:solidFill>
              </a:defRPr>
            </a:pPr>
            <a:r>
              <a:t>2. DYNAMIC DATA TRANSLATION (dt)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Translates dynamic data fetched from the database.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Normalizes crop/disease strings to lowercase keys.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Matches keys with a centralized Hindi dictionary.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Translates predictions, advisories, steps on the fly.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Dark Mode &amp; Mobile Polish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5132"/>
          </a:solidFill>
          <a:ln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DARK MODE REFACTOR</a:t>
            </a:r>
          </a:p>
          <a:p>
            <a:pPr>
              <a:spcBef>
                <a:spcPts val="1000"/>
              </a:spcBef>
              <a:defRPr sz="1400">
                <a:solidFill>
                  <a:srgbClr val="F0FDF4"/>
                </a:solidFill>
              </a:defRPr>
            </a:pPr>
            <a:r>
              <a:t>•  Injects .dark class to HTML body tags.</a:t>
            </a:r>
          </a:p>
          <a:p>
            <a:pPr>
              <a:spcBef>
                <a:spcPts val="1000"/>
              </a:spcBef>
              <a:defRPr sz="1400">
                <a:solidFill>
                  <a:srgbClr val="F0FDF4"/>
                </a:solidFill>
              </a:defRPr>
            </a:pPr>
            <a:r>
              <a:t>•  Gradients adjust to deep olive/black (#0c0f0a).</a:t>
            </a:r>
          </a:p>
          <a:p>
            <a:pPr>
              <a:spcBef>
                <a:spcPts val="1000"/>
              </a:spcBef>
              <a:defRPr sz="1400">
                <a:solidFill>
                  <a:srgbClr val="F0FDF4"/>
                </a:solidFill>
              </a:defRPr>
            </a:pPr>
            <a:r>
              <a:t>•  Cards adapt to transparent dark (dark:bg-gray-900/60).</a:t>
            </a:r>
          </a:p>
          <a:p>
            <a:pPr>
              <a:spcBef>
                <a:spcPts val="1000"/>
              </a:spcBef>
              <a:defRPr sz="1400">
                <a:solidFill>
                  <a:srgbClr val="F0FDF4"/>
                </a:solidFill>
              </a:defRPr>
            </a:pPr>
            <a:r>
              <a:t>•  Alert blocks adjusted with low transparency (dark:bg-red-950/20).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</a:defRPr>
            </a:pPr>
            <a:r>
              <a:t>ACCESSIBILITY &amp; POLISH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Eemojis replaced with custom Lucide SVG icon paths.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Modals set with higher z-index (z-[60]) to avoid nav overlaps.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Framer Motion route slides prevent flickering during navigations.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Button elements constrained with fullWidth={false} in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5132"/>
                </a:solidFill>
                <a:latin typeface="Arial"/>
              </a:defRPr>
            </a:pPr>
            <a:r>
              <a:t>Project Outcomes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5132"/>
                </a:solidFill>
              </a:defRPr>
            </a:pPr>
            <a:r>
              <a:t>PROJECT OUTCOMES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Responsive Single Page Application compiles under 2 seconds.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FastAPI provides scalable non-blocking async REST handlers.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Dynamic and static translation dictionary solves Hindi layout requirements.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✓  Batch delete and database cleanup endpoints reduce record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</a:defRPr>
            </a:pPr>
            <a:r>
              <a:t>FUTURE ROADMAP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On-device TensorFlow Lite model integration for offline leaf scans.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Interactive Gemini AI Chatbot for complex agronomy questions.</a:t>
            </a:r>
          </a:p>
          <a:p>
            <a:pPr>
              <a:spcBef>
                <a:spcPts val="1000"/>
              </a:spcBef>
              <a:defRPr sz="1400">
                <a:solidFill>
                  <a:srgbClr val="212529"/>
                </a:solidFill>
              </a:defRPr>
            </a:pPr>
            <a:r>
              <a:t>•  IoT crop sensors integration (NPK, Soil Moisture dashboards).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